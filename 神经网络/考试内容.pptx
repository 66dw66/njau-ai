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6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69CDF-F453-434B-8F4F-8C5D82F5B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84B3A4-B4E6-47D1-BE38-73BA36C39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A124FE-0569-4BA9-A127-8A805583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C20A0-B24F-4570-B9CF-45AEE912248C}" type="datetimeFigureOut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3DDA63-4CBB-4BB6-B904-59D4B1B19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D6953E-D4C4-4F2A-A231-E76AE2B3E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90DC9-E158-4331-BB36-3D20921BA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151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863CD-2E31-411B-B21A-05D655E0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AF36BD-DEA3-4E69-BBE1-6A2A8A3BF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57342A-262D-48F7-9DEB-0BB09762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C20A0-B24F-4570-B9CF-45AEE912248C}" type="datetimeFigureOut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A80F2D-EA41-4CC7-94BF-C595E1A33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771F45-2F69-42A7-859A-6772782A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90DC9-E158-4331-BB36-3D20921BA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298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0ABCB-D39F-46DC-AB82-CD0B4D3D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E4ACC0-F467-42A7-B18A-EDF141430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690DEB-F141-46BB-AAA2-7D78D3727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C20A0-B24F-4570-B9CF-45AEE912248C}" type="datetimeFigureOut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C07581-1A29-4E0F-8785-3DBE7DA48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15A7AD-0491-4C10-8322-4F3990DF6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90DC9-E158-4331-BB36-3D20921BA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426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FCC765-E252-46CD-B150-3726DAF3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465527-6EAC-413D-9B70-F69C0E054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9550D3-1ADD-47CA-9CD5-1E6DC8FF0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3D20D5-BCED-4FAC-B1E1-932F7412B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C20A0-B24F-4570-B9CF-45AEE912248C}" type="datetimeFigureOut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747797-621B-4EE7-B181-3A8836FC2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CA5583-82B3-406E-8681-C7B85E9F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90DC9-E158-4331-BB36-3D20921BA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48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6EBA4-6F1A-473C-8959-CF04F5C7F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E7E65A-4FCA-49C4-908B-D8B1B7F96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DFF1FE-014A-4177-B4B6-C0A3BD22D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030E07-0C45-471B-A0AE-159E805C8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DE04AAC-EE01-4A47-8C9B-B7FE4FA30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4A1FD9-ABD6-492E-8871-58F01E66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C20A0-B24F-4570-B9CF-45AEE912248C}" type="datetimeFigureOut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2448B0-5992-4675-8211-F8FF6C5F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9917B8-99B8-46B6-B0A5-5918FA32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90DC9-E158-4331-BB36-3D20921BA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597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67C2E1-FC60-4800-8C31-A65CE021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B5028F-56D5-4553-940D-C3611AC18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C20A0-B24F-4570-B9CF-45AEE912248C}" type="datetimeFigureOut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09FAD4-A778-4DB0-9BDF-73984B5DD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28C1C3-EBB6-49C7-8D2F-CD92E8C6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90DC9-E158-4331-BB36-3D20921BA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9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0E6C0B-9AC8-4A7F-8AEE-720B15E50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C20A0-B24F-4570-B9CF-45AEE912248C}" type="datetimeFigureOut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2A4F50-EC16-4531-ACDD-87DE72F65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DDA8AA-AC3E-4414-82FE-C1577A8D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90DC9-E158-4331-BB36-3D20921BA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1DF49-7D89-46B7-940E-689C9193E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EA15A8-C10B-426E-A94B-E5A3652E9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C1ADC5-1179-4AEC-B1D9-0E449777D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E7CF70-7C6C-4BB2-8BB4-E39322CB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C20A0-B24F-4570-B9CF-45AEE912248C}" type="datetimeFigureOut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45B407-B2E7-494F-B31C-03C9BF1E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F85810-A168-48AD-A016-685BB8B3C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90DC9-E158-4331-BB36-3D20921BA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19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5ECBB-242E-454C-B0C4-931B3F9F2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4BB981-A98C-4694-9E5E-A0261BFCC7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2CFC93-18F7-4223-B585-A43ACDA54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1E2F6F-2567-4EE3-BCEE-1945567C9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C20A0-B24F-4570-B9CF-45AEE912248C}" type="datetimeFigureOut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5B3FE2-6F28-4DF1-823D-2671654D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A1E143-482D-4460-9DC8-0C3E3F774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90DC9-E158-4331-BB36-3D20921BA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02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3ED7E-E1A7-4078-A8B3-880081A0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74FA48-ABB5-40FA-8D45-C6583524D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3B619A-D2BC-47BD-97DB-E9520BCF1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C20A0-B24F-4570-B9CF-45AEE912248C}" type="datetimeFigureOut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155EF5-69B5-4212-B961-9B7E26E47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2ECCCF-9C88-42E0-B450-A0EEBD0C8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90DC9-E158-4331-BB36-3D20921BA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62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FA6402-F2F0-40CB-A0D3-058D74741A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252D51-953F-4F68-BDBD-524175004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C1FCC4-31AA-406A-BE46-4A2F812EC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C20A0-B24F-4570-B9CF-45AEE912248C}" type="datetimeFigureOut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507236-4786-4211-98B1-5B4BD1D4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5D3B89-0FDF-4837-8E4A-A9E0C235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90DC9-E158-4331-BB36-3D20921BA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645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80E2E7-75F0-4667-BAA1-A08766A50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A31AF7-7ABD-4B06-B9B6-CC47270E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6AAC5F-C8D4-4E30-BD99-E6311A7E5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C20A0-B24F-4570-B9CF-45AEE912248C}" type="datetimeFigureOut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4B280A-EADA-4284-A563-1523546BC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F3D99E-9A1B-4284-9772-FD2FA5973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90DC9-E158-4331-BB36-3D20921BA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80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3C90A7-F952-4ABA-B510-1117203C1C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神经网络与深度学习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6ED355-6964-4A2B-91EB-51DF8DC91B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593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289E0-D932-4E55-ACD2-9C7E63EBE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总成绩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7893C1-6AEC-4985-8723-4CDA04095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065" y="1690688"/>
            <a:ext cx="4944035" cy="4553511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期末考试 </a:t>
            </a:r>
            <a:r>
              <a:rPr lang="en-US" altLang="zh-CN" sz="2400" dirty="0"/>
              <a:t>(60%)+ </a:t>
            </a:r>
            <a:r>
              <a:rPr lang="zh-CN" altLang="en-US" sz="2400" dirty="0"/>
              <a:t>平时成绩 </a:t>
            </a:r>
            <a:r>
              <a:rPr lang="en-US" altLang="zh-CN" sz="2400" dirty="0"/>
              <a:t>(40%)</a:t>
            </a:r>
          </a:p>
          <a:p>
            <a:r>
              <a:rPr lang="zh-CN" altLang="en-US" sz="2400" dirty="0"/>
              <a:t>期末考试卷面为</a:t>
            </a:r>
            <a:r>
              <a:rPr lang="en-US" altLang="zh-CN" sz="2400" dirty="0"/>
              <a:t>100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r>
              <a:rPr lang="zh-CN" altLang="en-US" sz="2400" dirty="0"/>
              <a:t>平时成绩满分为</a:t>
            </a:r>
            <a:r>
              <a:rPr lang="en-US" altLang="zh-CN" sz="2400" dirty="0"/>
              <a:t>100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pPr lvl="1"/>
            <a:r>
              <a:rPr lang="zh-CN" altLang="en-US" sz="2000" dirty="0"/>
              <a:t>实验</a:t>
            </a:r>
            <a:r>
              <a:rPr lang="en-US" altLang="zh-CN" sz="2000" dirty="0"/>
              <a:t>1</a:t>
            </a:r>
            <a:r>
              <a:rPr lang="zh-CN" altLang="en-US" sz="2000" dirty="0"/>
              <a:t>、实验</a:t>
            </a:r>
            <a:r>
              <a:rPr lang="en-US" altLang="zh-CN" sz="2000" dirty="0"/>
              <a:t>2</a:t>
            </a:r>
            <a:r>
              <a:rPr lang="zh-CN" altLang="en-US" sz="2000" dirty="0"/>
              <a:t>各</a:t>
            </a:r>
            <a:r>
              <a:rPr lang="en-US" altLang="zh-CN" sz="2000" dirty="0"/>
              <a:t>20</a:t>
            </a:r>
            <a:r>
              <a:rPr lang="zh-CN" altLang="en-US" sz="2000" dirty="0"/>
              <a:t>分，共</a:t>
            </a:r>
            <a:r>
              <a:rPr lang="en-US" altLang="zh-CN" sz="2000" dirty="0"/>
              <a:t>40</a:t>
            </a:r>
            <a:r>
              <a:rPr lang="zh-CN" altLang="en-US" sz="2000" dirty="0"/>
              <a:t>分</a:t>
            </a:r>
            <a:endParaRPr lang="en-US" altLang="zh-CN" sz="2000" dirty="0"/>
          </a:p>
          <a:p>
            <a:pPr lvl="1"/>
            <a:r>
              <a:rPr lang="en-US" altLang="zh-CN" sz="2000" dirty="0"/>
              <a:t>Chapter 1~6 </a:t>
            </a:r>
            <a:r>
              <a:rPr lang="zh-CN" altLang="en-US" sz="2000" dirty="0"/>
              <a:t>作业，每次作业</a:t>
            </a:r>
            <a:r>
              <a:rPr lang="en-US" altLang="zh-CN" sz="2000" dirty="0"/>
              <a:t>10</a:t>
            </a:r>
            <a:r>
              <a:rPr lang="zh-CN" altLang="en-US" sz="2000" dirty="0"/>
              <a:t>分，共</a:t>
            </a:r>
            <a:r>
              <a:rPr lang="en-US" altLang="zh-CN" sz="2000" dirty="0"/>
              <a:t>60</a:t>
            </a:r>
            <a:r>
              <a:rPr lang="zh-CN" altLang="en-US" sz="2000" dirty="0"/>
              <a:t>分</a:t>
            </a:r>
            <a:endParaRPr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F20504-4964-4D9E-9552-BDBCA815F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057" y="1690688"/>
            <a:ext cx="5946878" cy="387275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8CB8F9E-D327-4713-ABCD-7DF3256CF33A}"/>
              </a:ext>
            </a:extLst>
          </p:cNvPr>
          <p:cNvSpPr/>
          <p:nvPr/>
        </p:nvSpPr>
        <p:spPr>
          <a:xfrm>
            <a:off x="640976" y="4840941"/>
            <a:ext cx="4518212" cy="10219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作业补交截止日期：</a:t>
            </a:r>
            <a:r>
              <a:rPr lang="en-US" altLang="zh-CN" b="1" dirty="0">
                <a:solidFill>
                  <a:srgbClr val="C00000"/>
                </a:solidFill>
              </a:rPr>
              <a:t>2021.12.31 </a:t>
            </a:r>
            <a:r>
              <a:rPr lang="zh-CN" altLang="en-US" b="1" dirty="0">
                <a:solidFill>
                  <a:srgbClr val="C00000"/>
                </a:solidFill>
              </a:rPr>
              <a:t>中午</a:t>
            </a:r>
            <a:r>
              <a:rPr lang="en-US" altLang="zh-CN" b="1" dirty="0">
                <a:solidFill>
                  <a:srgbClr val="C00000"/>
                </a:solidFill>
              </a:rPr>
              <a:t>12: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00</a:t>
            </a:r>
          </a:p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补交作业、实验的评分为原评分的</a:t>
            </a:r>
            <a:r>
              <a:rPr lang="en-US" altLang="zh-CN" b="1" dirty="0">
                <a:solidFill>
                  <a:srgbClr val="C00000"/>
                </a:solidFill>
              </a:rPr>
              <a:t>60%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330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D6A66-0808-4E58-A990-1BC19B79A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期末考试卷面构成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D6A294-BD7A-4B21-BF96-6860069A8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选择题</a:t>
            </a:r>
            <a:r>
              <a:rPr lang="en-US" altLang="zh-CN" dirty="0"/>
              <a:t>(</a:t>
            </a:r>
            <a:r>
              <a:rPr lang="zh-CN" altLang="en-US" dirty="0"/>
              <a:t>单选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2</a:t>
            </a:r>
            <a:r>
              <a:rPr lang="zh-CN" altLang="en-US" dirty="0"/>
              <a:t>分 </a:t>
            </a:r>
            <a:r>
              <a:rPr lang="en-US" altLang="zh-CN" dirty="0"/>
              <a:t>* 10 = 20</a:t>
            </a:r>
            <a:r>
              <a:rPr lang="zh-CN" altLang="en-US" dirty="0"/>
              <a:t>分</a:t>
            </a:r>
            <a:endParaRPr lang="en-US" altLang="zh-CN" dirty="0"/>
          </a:p>
          <a:p>
            <a:r>
              <a:rPr lang="zh-CN" altLang="en-US" dirty="0"/>
              <a:t>判断题：</a:t>
            </a:r>
            <a:r>
              <a:rPr lang="en-US" altLang="zh-CN" dirty="0"/>
              <a:t>1</a:t>
            </a:r>
            <a:r>
              <a:rPr lang="zh-CN" altLang="en-US" dirty="0"/>
              <a:t>分 </a:t>
            </a:r>
            <a:r>
              <a:rPr lang="en-US" altLang="zh-CN" dirty="0"/>
              <a:t>* 5 = 5</a:t>
            </a:r>
            <a:r>
              <a:rPr lang="zh-CN" altLang="en-US" dirty="0"/>
              <a:t>分</a:t>
            </a:r>
            <a:endParaRPr lang="en-US" altLang="zh-CN" dirty="0"/>
          </a:p>
          <a:p>
            <a:r>
              <a:rPr lang="zh-CN" altLang="en-US" dirty="0"/>
              <a:t>名词解释题：</a:t>
            </a:r>
            <a:r>
              <a:rPr lang="en-US" altLang="zh-CN" dirty="0"/>
              <a:t>2</a:t>
            </a:r>
            <a:r>
              <a:rPr lang="zh-CN" altLang="en-US" dirty="0"/>
              <a:t>分 </a:t>
            </a:r>
            <a:r>
              <a:rPr lang="en-US" altLang="zh-CN" dirty="0"/>
              <a:t>* 5 = 10</a:t>
            </a:r>
            <a:r>
              <a:rPr lang="zh-CN" altLang="en-US" dirty="0"/>
              <a:t>分</a:t>
            </a:r>
            <a:endParaRPr lang="en-US" altLang="zh-CN" dirty="0"/>
          </a:p>
          <a:p>
            <a:r>
              <a:rPr lang="zh-CN" altLang="en-US" dirty="0"/>
              <a:t>简答题：</a:t>
            </a:r>
            <a:r>
              <a:rPr lang="en-US" altLang="zh-CN" dirty="0"/>
              <a:t>5</a:t>
            </a:r>
            <a:r>
              <a:rPr lang="zh-CN" altLang="en-US" dirty="0"/>
              <a:t>分 </a:t>
            </a:r>
            <a:r>
              <a:rPr lang="en-US" altLang="zh-CN"/>
              <a:t>* 7 = 35</a:t>
            </a:r>
            <a:r>
              <a:rPr lang="zh-CN" altLang="en-US"/>
              <a:t>分</a:t>
            </a:r>
            <a:endParaRPr lang="en-US" altLang="zh-CN" dirty="0"/>
          </a:p>
          <a:p>
            <a:r>
              <a:rPr lang="zh-CN" altLang="en-US" dirty="0"/>
              <a:t>解答题：</a:t>
            </a:r>
            <a:r>
              <a:rPr lang="en-US" altLang="zh-CN" dirty="0"/>
              <a:t>4</a:t>
            </a:r>
            <a:r>
              <a:rPr lang="zh-CN" altLang="en-US" dirty="0"/>
              <a:t>道题目，分值</a:t>
            </a:r>
            <a:r>
              <a:rPr lang="en-US" altLang="zh-CN" dirty="0"/>
              <a:t>5~10</a:t>
            </a:r>
            <a:r>
              <a:rPr lang="zh-CN" altLang="en-US" dirty="0"/>
              <a:t>分，共</a:t>
            </a:r>
            <a:r>
              <a:rPr lang="en-US" altLang="zh-CN" dirty="0"/>
              <a:t>30</a:t>
            </a:r>
            <a:r>
              <a:rPr lang="zh-CN" altLang="en-US" dirty="0"/>
              <a:t>分。</a:t>
            </a:r>
          </a:p>
        </p:txBody>
      </p:sp>
    </p:spTree>
    <p:extLst>
      <p:ext uri="{BB962C8B-B14F-4D97-AF65-F5344CB8AC3E}">
        <p14:creationId xmlns:p14="http://schemas.microsoft.com/office/powerpoint/2010/main" val="242940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44C57-4E8A-4C6A-B8AA-00470FA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2 </a:t>
            </a:r>
            <a:r>
              <a:rPr lang="zh-CN" altLang="en-US" dirty="0"/>
              <a:t>机器学习概述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92061D-998E-43C4-A311-0D1C1E21B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机器学习的基本概念。</a:t>
            </a:r>
            <a:endParaRPr lang="en-US" altLang="zh-CN" dirty="0"/>
          </a:p>
          <a:p>
            <a:r>
              <a:rPr lang="zh-CN" altLang="en-US" dirty="0"/>
              <a:t>机器学习的三个基本要素：</a:t>
            </a:r>
            <a:endParaRPr lang="en-US" altLang="zh-CN" dirty="0"/>
          </a:p>
          <a:p>
            <a:pPr lvl="1"/>
            <a:r>
              <a:rPr lang="zh-CN" altLang="en-US" dirty="0"/>
              <a:t>模型：线性的、非线性的。</a:t>
            </a:r>
            <a:endParaRPr lang="en-US" altLang="zh-CN" dirty="0"/>
          </a:p>
          <a:p>
            <a:pPr lvl="1"/>
            <a:r>
              <a:rPr lang="zh-CN" altLang="en-US" dirty="0"/>
              <a:t>学习准则：期望风险、经验风险、损失函数</a:t>
            </a:r>
            <a:r>
              <a:rPr lang="en-US" altLang="zh-CN" dirty="0"/>
              <a:t>(</a:t>
            </a:r>
            <a:r>
              <a:rPr lang="zh-CN" altLang="en-US" dirty="0"/>
              <a:t>交叉熵损失函数</a:t>
            </a:r>
            <a:r>
              <a:rPr lang="en-US" altLang="zh-CN" dirty="0"/>
              <a:t>)</a:t>
            </a:r>
            <a:r>
              <a:rPr lang="zh-CN" altLang="en-US" dirty="0"/>
              <a:t>、过拟合和欠拟合。</a:t>
            </a:r>
            <a:endParaRPr lang="en-US" altLang="zh-CN" dirty="0"/>
          </a:p>
          <a:p>
            <a:pPr lvl="1"/>
            <a:r>
              <a:rPr lang="zh-CN" altLang="en-US" dirty="0"/>
              <a:t>优化算法：参数与超参数、最优化问题。</a:t>
            </a:r>
            <a:endParaRPr lang="en-US" altLang="zh-CN" dirty="0"/>
          </a:p>
          <a:p>
            <a:r>
              <a:rPr lang="zh-CN" altLang="en-US" dirty="0"/>
              <a:t>偏差</a:t>
            </a:r>
            <a:r>
              <a:rPr lang="en-US" altLang="zh-CN" dirty="0"/>
              <a:t>-</a:t>
            </a:r>
            <a:r>
              <a:rPr lang="zh-CN" altLang="en-US" dirty="0"/>
              <a:t>方差分解：偏差、方差</a:t>
            </a:r>
            <a:endParaRPr lang="en-US" altLang="zh-CN" dirty="0"/>
          </a:p>
          <a:p>
            <a:r>
              <a:rPr lang="zh-CN" altLang="en-US" dirty="0"/>
              <a:t>机器学习算法的类型：监督学习、无监督学习、强化学习</a:t>
            </a:r>
            <a:endParaRPr lang="en-US" altLang="zh-CN" dirty="0"/>
          </a:p>
          <a:p>
            <a:r>
              <a:rPr lang="zh-CN" altLang="en-US" dirty="0"/>
              <a:t>评价指标：准确率、错误率、精确率、召回率、</a:t>
            </a:r>
            <a:r>
              <a:rPr lang="en-US" altLang="zh-CN" dirty="0"/>
              <a:t>F</a:t>
            </a:r>
            <a:r>
              <a:rPr lang="zh-CN" altLang="en-US" dirty="0"/>
              <a:t>值等。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9153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5474E-2EBE-4778-AB0B-29E2DDD34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3 </a:t>
            </a:r>
            <a:r>
              <a:rPr lang="zh-CN" altLang="en-US" dirty="0"/>
              <a:t>线性模型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54D6E7-A21A-4255-86C3-640CF93D2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二分类、多分类问题</a:t>
            </a:r>
            <a:endParaRPr lang="en-US" altLang="zh-CN" dirty="0"/>
          </a:p>
          <a:p>
            <a:r>
              <a:rPr lang="en-US" altLang="zh-CN" dirty="0"/>
              <a:t>Logistic</a:t>
            </a:r>
            <a:r>
              <a:rPr lang="zh-CN" altLang="en-US" dirty="0"/>
              <a:t>回归</a:t>
            </a:r>
            <a:endParaRPr lang="en-US" altLang="zh-CN" dirty="0"/>
          </a:p>
          <a:p>
            <a:r>
              <a:rPr lang="en-US" altLang="zh-CN" dirty="0" err="1"/>
              <a:t>Softmax</a:t>
            </a:r>
            <a:r>
              <a:rPr lang="zh-CN" altLang="en-US" dirty="0"/>
              <a:t>回归</a:t>
            </a:r>
            <a:endParaRPr lang="en-US" altLang="zh-CN" dirty="0"/>
          </a:p>
          <a:p>
            <a:r>
              <a:rPr lang="zh-CN" altLang="en-US" dirty="0"/>
              <a:t>感知器</a:t>
            </a:r>
          </a:p>
        </p:txBody>
      </p:sp>
    </p:spTree>
    <p:extLst>
      <p:ext uri="{BB962C8B-B14F-4D97-AF65-F5344CB8AC3E}">
        <p14:creationId xmlns:p14="http://schemas.microsoft.com/office/powerpoint/2010/main" val="4241310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5474E-2EBE-4778-AB0B-29E2DDD34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4 </a:t>
            </a:r>
            <a:r>
              <a:rPr lang="zh-CN" altLang="en-US" dirty="0"/>
              <a:t>前馈神经网络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854D6E7-A21A-4255-86C3-640CF93D2F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神经元的基本结构。</a:t>
                </a:r>
                <a:endParaRPr lang="en-US" altLang="zh-CN" dirty="0"/>
              </a:p>
              <a:p>
                <a:r>
                  <a:rPr lang="zh-CN" altLang="en-US" dirty="0"/>
                  <a:t>激活函数：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Sigmoid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Tanh</a:t>
                </a:r>
                <a:r>
                  <a:rPr lang="zh-CN" altLang="en-US" dirty="0"/>
                  <a:t>、</a:t>
                </a:r>
                <a:r>
                  <a:rPr lang="en-US" altLang="zh-CN" dirty="0" err="1"/>
                  <a:t>ReLU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Swish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GELU</a:t>
                </a:r>
                <a:r>
                  <a:rPr lang="zh-CN" altLang="en-US" dirty="0"/>
                  <a:t>、</a:t>
                </a:r>
                <a:r>
                  <a:rPr lang="en-US" altLang="zh-CN" dirty="0" err="1"/>
                  <a:t>Maxout</a:t>
                </a:r>
                <a:r>
                  <a:rPr lang="zh-CN" altLang="en-US" dirty="0"/>
                  <a:t>单元。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激活函数的导函数。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激活函数的性质。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激活函数的选择。</a:t>
                </a:r>
                <a:endParaRPr lang="en-US" altLang="zh-CN" dirty="0"/>
              </a:p>
              <a:p>
                <a:r>
                  <a:rPr lang="zh-CN" altLang="en-US" dirty="0"/>
                  <a:t>前馈神经网络：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结构、工作原理 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、参数学习 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的更新方式</a:t>
                </a:r>
                <a:r>
                  <a:rPr lang="en-US" altLang="zh-CN" dirty="0"/>
                  <a:t>)</a:t>
                </a:r>
              </a:p>
              <a:p>
                <a:pPr lvl="1"/>
                <a:r>
                  <a:rPr lang="zh-CN" altLang="en-US" dirty="0"/>
                  <a:t>反向传播算法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给定损失函数，计算损失函数关于每个参数的导数</a:t>
                </a:r>
                <a:r>
                  <a:rPr lang="en-US" altLang="zh-CN" dirty="0"/>
                  <a:t>)</a:t>
                </a:r>
              </a:p>
              <a:p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854D6E7-A21A-4255-86C3-640CF93D2F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3671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82864-3DCC-4745-B4D5-9B4899A37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5 </a:t>
            </a:r>
            <a:r>
              <a:rPr lang="zh-CN" altLang="en-US" dirty="0"/>
              <a:t>卷积神经网络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5D3EED-12F4-4F1D-B0EC-CBEF1B31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为什么使用</a:t>
            </a:r>
            <a:r>
              <a:rPr lang="en-US" altLang="zh-CN" dirty="0"/>
              <a:t>CNN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en-US" altLang="zh-CN" dirty="0"/>
              <a:t>CNN</a:t>
            </a:r>
            <a:r>
              <a:rPr lang="zh-CN" altLang="en-US" dirty="0"/>
              <a:t>结构上的特性：局部连接、权重共享、汇聚。</a:t>
            </a:r>
            <a:endParaRPr lang="en-US" altLang="zh-CN" dirty="0"/>
          </a:p>
          <a:p>
            <a:r>
              <a:rPr lang="zh-CN" altLang="en-US" dirty="0"/>
              <a:t>卷积运算 </a:t>
            </a:r>
            <a:r>
              <a:rPr lang="en-US" altLang="zh-CN" dirty="0"/>
              <a:t>(</a:t>
            </a:r>
            <a:r>
              <a:rPr lang="zh-CN" altLang="en-US" dirty="0"/>
              <a:t>二维卷积、三维卷积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Stride</a:t>
            </a:r>
            <a:r>
              <a:rPr lang="zh-CN" altLang="en-US" dirty="0"/>
              <a:t>、</a:t>
            </a:r>
            <a:r>
              <a:rPr lang="en-US" altLang="zh-CN" dirty="0"/>
              <a:t>Padding</a:t>
            </a:r>
          </a:p>
          <a:p>
            <a:pPr lvl="1"/>
            <a:r>
              <a:rPr lang="zh-CN" altLang="en-US" dirty="0"/>
              <a:t>参数数量计算、特征图维度计算</a:t>
            </a:r>
            <a:endParaRPr lang="en-US" altLang="zh-CN" dirty="0"/>
          </a:p>
          <a:p>
            <a:pPr lvl="1"/>
            <a:r>
              <a:rPr lang="zh-CN" altLang="en-US" dirty="0"/>
              <a:t>卷积的变种：反卷积、空洞卷积</a:t>
            </a:r>
            <a:endParaRPr lang="en-US" altLang="zh-CN" dirty="0"/>
          </a:p>
          <a:p>
            <a:r>
              <a:rPr lang="zh-CN" altLang="en-US" dirty="0"/>
              <a:t>池化运算 </a:t>
            </a:r>
            <a:r>
              <a:rPr lang="en-US" altLang="zh-CN" dirty="0"/>
              <a:t>(</a:t>
            </a:r>
            <a:r>
              <a:rPr lang="zh-CN" altLang="en-US" dirty="0"/>
              <a:t>最大池化、平均池化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参数数量计算、特征图维度计算</a:t>
            </a:r>
            <a:endParaRPr lang="en-US" altLang="zh-CN" dirty="0"/>
          </a:p>
          <a:p>
            <a:r>
              <a:rPr lang="zh-CN" altLang="en-US" dirty="0"/>
              <a:t>典型的</a:t>
            </a:r>
            <a:r>
              <a:rPr lang="en-US" altLang="zh-CN" dirty="0"/>
              <a:t>CNN</a:t>
            </a:r>
            <a:r>
              <a:rPr lang="zh-CN" altLang="en-US" dirty="0"/>
              <a:t>：</a:t>
            </a:r>
            <a:r>
              <a:rPr lang="en-US" altLang="zh-CN" dirty="0" err="1"/>
              <a:t>AlexNet</a:t>
            </a:r>
            <a:r>
              <a:rPr lang="en-US" altLang="zh-CN" dirty="0"/>
              <a:t> (</a:t>
            </a:r>
            <a:r>
              <a:rPr lang="zh-CN" altLang="en-US" dirty="0"/>
              <a:t>参数计算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 err="1"/>
              <a:t>GoogleNet</a:t>
            </a:r>
            <a:r>
              <a:rPr lang="en-US" altLang="zh-CN" dirty="0"/>
              <a:t> (Inception</a:t>
            </a:r>
            <a:r>
              <a:rPr lang="zh-CN" altLang="en-US" dirty="0"/>
              <a:t>模块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 err="1"/>
              <a:t>ResNet</a:t>
            </a:r>
            <a:r>
              <a:rPr lang="en-US" altLang="zh-CN" dirty="0"/>
              <a:t> (</a:t>
            </a:r>
            <a:r>
              <a:rPr lang="zh-CN" altLang="en-US" dirty="0"/>
              <a:t>残差单元结构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3421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4C80C-9591-46E0-85A8-B89392D1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6 </a:t>
            </a:r>
            <a:r>
              <a:rPr lang="zh-CN" altLang="en-US" dirty="0"/>
              <a:t>循环神经网络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A37562-88F6-40D1-A47B-994B50230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为什么使用</a:t>
            </a:r>
            <a:r>
              <a:rPr lang="en-US" altLang="zh-CN" dirty="0"/>
              <a:t>RNN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en-US" altLang="zh-CN" dirty="0"/>
              <a:t>RNN</a:t>
            </a:r>
            <a:r>
              <a:rPr lang="zh-CN" altLang="en-US" dirty="0"/>
              <a:t>的基本结构：输入、输出、延时器及其状态更新。</a:t>
            </a:r>
            <a:endParaRPr lang="en-US" altLang="zh-CN" dirty="0"/>
          </a:p>
          <a:p>
            <a:r>
              <a:rPr lang="zh-CN" altLang="en-US" dirty="0"/>
              <a:t>参数学习：随时间反向传播算法 </a:t>
            </a:r>
            <a:r>
              <a:rPr lang="en-US" altLang="zh-CN" dirty="0"/>
              <a:t>(BPTT)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长程依赖问题产生的原因及改进方案：</a:t>
            </a:r>
            <a:endParaRPr lang="en-US" altLang="zh-CN" dirty="0"/>
          </a:p>
          <a:p>
            <a:pPr lvl="1"/>
            <a:r>
              <a:rPr lang="zh-CN" altLang="en-US" dirty="0"/>
              <a:t>梯度爆炸、梯度消失。</a:t>
            </a:r>
            <a:endParaRPr lang="en-US" altLang="zh-CN" dirty="0"/>
          </a:p>
          <a:p>
            <a:pPr lvl="1"/>
            <a:r>
              <a:rPr lang="en-US" altLang="zh-CN" dirty="0"/>
              <a:t>LSTM</a:t>
            </a:r>
            <a:r>
              <a:rPr lang="zh-CN" altLang="en-US" dirty="0"/>
              <a:t>：门控机制 </a:t>
            </a:r>
            <a:r>
              <a:rPr lang="en-US" altLang="zh-CN" dirty="0"/>
              <a:t>(</a:t>
            </a:r>
            <a:r>
              <a:rPr lang="zh-CN" altLang="en-US" dirty="0"/>
              <a:t>输入门、遗忘门、输出门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7415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6A701-C296-4133-BE92-B471BACA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7 </a:t>
            </a:r>
            <a:r>
              <a:rPr lang="zh-CN" altLang="en-US" dirty="0"/>
              <a:t>网络优化与正则化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085048-0CF1-488F-9435-E43279A68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400" dirty="0"/>
              <a:t>“矛与盾”的关系。</a:t>
            </a:r>
            <a:endParaRPr lang="en-US" altLang="zh-CN" sz="2400" dirty="0"/>
          </a:p>
          <a:p>
            <a:r>
              <a:rPr lang="zh-CN" altLang="en-US" sz="2400" dirty="0"/>
              <a:t>平坦最小值、尖锐最小值。</a:t>
            </a:r>
            <a:endParaRPr lang="en-US" altLang="zh-CN" sz="2400" dirty="0"/>
          </a:p>
          <a:p>
            <a:r>
              <a:rPr lang="zh-CN" altLang="en-US" sz="2400" dirty="0"/>
              <a:t>优化算法：</a:t>
            </a:r>
            <a:endParaRPr lang="en-US" altLang="zh-CN" sz="2400" dirty="0"/>
          </a:p>
          <a:p>
            <a:pPr lvl="1"/>
            <a:r>
              <a:rPr lang="zh-CN" altLang="en-US" sz="2000" dirty="0"/>
              <a:t>梯度下降算法：</a:t>
            </a:r>
            <a:r>
              <a:rPr lang="en-US" altLang="zh-CN" sz="2000" dirty="0"/>
              <a:t>BGD, MBGD, SGD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/>
            <a:r>
              <a:rPr lang="zh-CN" altLang="en-US" sz="2000" dirty="0"/>
              <a:t>学习率调整：衰减、预热、周期性调整、</a:t>
            </a:r>
            <a:r>
              <a:rPr lang="en-US" altLang="zh-CN" sz="2000" dirty="0" err="1"/>
              <a:t>RMSprop</a:t>
            </a:r>
            <a:r>
              <a:rPr lang="zh-CN" altLang="en-US" sz="2000" dirty="0"/>
              <a:t>等。</a:t>
            </a:r>
            <a:endParaRPr lang="en-US" altLang="zh-CN" sz="2000" dirty="0"/>
          </a:p>
          <a:p>
            <a:pPr lvl="1"/>
            <a:r>
              <a:rPr lang="zh-CN" altLang="en-US" sz="2000" dirty="0"/>
              <a:t>梯度估计修正：动量法</a:t>
            </a:r>
            <a:r>
              <a:rPr lang="zh-CN" altLang="en-US" sz="2000"/>
              <a:t>、梯度截断。</a:t>
            </a:r>
            <a:endParaRPr lang="en-US" altLang="zh-CN" sz="2000" dirty="0"/>
          </a:p>
          <a:p>
            <a:pPr lvl="1"/>
            <a:r>
              <a:rPr lang="zh-CN" altLang="en-US" sz="2000" dirty="0"/>
              <a:t>综合方法：</a:t>
            </a:r>
            <a:r>
              <a:rPr lang="en-US" altLang="zh-CN" sz="2000" dirty="0"/>
              <a:t>Adam</a:t>
            </a:r>
            <a:r>
              <a:rPr lang="zh-CN" altLang="en-US" sz="2000" dirty="0"/>
              <a:t>优化器。</a:t>
            </a:r>
            <a:endParaRPr lang="en-US" altLang="zh-CN" sz="2000" dirty="0"/>
          </a:p>
          <a:p>
            <a:r>
              <a:rPr lang="zh-CN" altLang="en-US" sz="2400" dirty="0"/>
              <a:t>超参数优化：难点与方法。</a:t>
            </a:r>
            <a:endParaRPr lang="en-US" altLang="zh-CN" sz="2400" dirty="0"/>
          </a:p>
          <a:p>
            <a:r>
              <a:rPr lang="zh-CN" altLang="en-US" sz="2400" dirty="0"/>
              <a:t>数据预处理：数据集划分、批量归一化、层归一化等。</a:t>
            </a:r>
            <a:endParaRPr lang="en-US" altLang="zh-CN" sz="2400" dirty="0"/>
          </a:p>
          <a:p>
            <a:r>
              <a:rPr lang="zh-CN" altLang="en-US" sz="2400" dirty="0"/>
              <a:t>网络正则化：</a:t>
            </a:r>
            <a:endParaRPr lang="en-US" altLang="zh-CN" sz="2400" dirty="0"/>
          </a:p>
          <a:p>
            <a:pPr lvl="1"/>
            <a:r>
              <a:rPr lang="en-US" altLang="zh-CN" sz="2000" dirty="0"/>
              <a:t>L1</a:t>
            </a:r>
            <a:r>
              <a:rPr lang="zh-CN" altLang="en-US" sz="2000" dirty="0"/>
              <a:t>和</a:t>
            </a:r>
            <a:r>
              <a:rPr lang="en-US" altLang="zh-CN" sz="2000" dirty="0"/>
              <a:t>L2</a:t>
            </a:r>
            <a:r>
              <a:rPr lang="zh-CN" altLang="en-US" sz="2000" dirty="0"/>
              <a:t>正则化、提前停止、</a:t>
            </a:r>
            <a:r>
              <a:rPr lang="en-US" altLang="zh-CN" sz="2000" dirty="0"/>
              <a:t>Dropout</a:t>
            </a:r>
            <a:r>
              <a:rPr lang="zh-CN" altLang="en-US" sz="2000" dirty="0"/>
              <a:t>、数据增强等。</a:t>
            </a:r>
            <a:endParaRPr lang="en-US" altLang="zh-CN" sz="2000" dirty="0"/>
          </a:p>
          <a:p>
            <a:pPr lvl="1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13149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1635C-B0E4-4CF5-B7DF-20E5CDE5A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8 </a:t>
            </a:r>
            <a:r>
              <a:rPr lang="zh-CN" altLang="en-US" dirty="0"/>
              <a:t>注意力机制与外部记忆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8DF04E-5DB3-4996-9FEC-3C8902E2D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注意力机制：</a:t>
            </a:r>
            <a:endParaRPr lang="en-US" altLang="zh-CN" dirty="0"/>
          </a:p>
          <a:p>
            <a:pPr lvl="1"/>
            <a:r>
              <a:rPr lang="zh-CN" altLang="en-US" dirty="0"/>
              <a:t>聚焦式注意力和基于显著性的注意力（鸡尾酒会效应）。</a:t>
            </a:r>
            <a:endParaRPr lang="en-US" altLang="zh-CN" dirty="0"/>
          </a:p>
          <a:p>
            <a:pPr lvl="1"/>
            <a:r>
              <a:rPr lang="zh-CN" altLang="en-US" dirty="0"/>
              <a:t>软性注意力、硬性注意力和键值对注意力。</a:t>
            </a:r>
            <a:endParaRPr lang="en-US" altLang="zh-CN" dirty="0"/>
          </a:p>
          <a:p>
            <a:r>
              <a:rPr lang="zh-CN" altLang="en-US" dirty="0"/>
              <a:t>外部记忆：</a:t>
            </a:r>
            <a:endParaRPr lang="en-US" altLang="zh-CN" dirty="0"/>
          </a:p>
          <a:p>
            <a:pPr lvl="1"/>
            <a:r>
              <a:rPr lang="zh-CN" altLang="en-US" dirty="0"/>
              <a:t>记忆增强神经网络。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1499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D49E543-AEB0-43BA-A530-81FF021ED6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祝大家考试顺利！</a:t>
            </a: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7F59374F-2BF4-4F79-850F-466D9AB96E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87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629</Words>
  <Application>Microsoft Office PowerPoint</Application>
  <PresentationFormat>宽屏</PresentationFormat>
  <Paragraphs>75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Arial</vt:lpstr>
      <vt:lpstr>Cambria Math</vt:lpstr>
      <vt:lpstr>Office 主题​​</vt:lpstr>
      <vt:lpstr>神经网络与深度学习</vt:lpstr>
      <vt:lpstr>总成绩</vt:lpstr>
      <vt:lpstr>期末考试卷面构成</vt:lpstr>
      <vt:lpstr>Chapter 2 机器学习概述</vt:lpstr>
      <vt:lpstr>Chapter 3 线性模型</vt:lpstr>
      <vt:lpstr>Chapter 4 前馈神经网络</vt:lpstr>
      <vt:lpstr>Chapter 5 卷积神经网络</vt:lpstr>
      <vt:lpstr>Chapter 6 循环神经网络</vt:lpstr>
      <vt:lpstr>Chapter 7 网络优化与正则化</vt:lpstr>
      <vt:lpstr>Chapter 8 注意力机制与外部记忆</vt:lpstr>
      <vt:lpstr>祝大家考试顺利！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神经网络与深度学习</dc:title>
  <dc:creator>Admin</dc:creator>
  <cp:lastModifiedBy>Admin</cp:lastModifiedBy>
  <cp:revision>23</cp:revision>
  <dcterms:created xsi:type="dcterms:W3CDTF">2021-12-14T07:26:49Z</dcterms:created>
  <dcterms:modified xsi:type="dcterms:W3CDTF">2021-12-20T11:24:59Z</dcterms:modified>
</cp:coreProperties>
</file>